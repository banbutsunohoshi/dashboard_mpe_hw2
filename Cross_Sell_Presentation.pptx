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02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80160"/>
            <a:ext cx="73152" cy="1645920"/>
          </a:xfrm>
          <a:prstGeom prst="rect">
            <a:avLst/>
          </a:prstGeom>
          <a:solidFill>
            <a:srgbClr val="85C1E9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0972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АНАЛИТИЧЕСКИЙ ОТЧЁТ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и Up-sell: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подушки, матрасы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сопутствующие товары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2743200" cy="27432"/>
          </a:xfrm>
          <a:prstGeom prst="rect">
            <a:avLst/>
          </a:prstGeom>
          <a:solidFill>
            <a:srgbClr val="85C1E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474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«Маркетплейсы и платформенная экономика»  |  ФЭН НИУ ВШЭ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Период: январь 2024 — декабрь 2025  |  Дата: март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цифры в одном взгляде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/ Up-sell: Подушки и Матрасы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1828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94183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20,4 млн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 ИСХОДНЫХ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0" y="868680"/>
            <a:ext cx="1828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77440" y="94183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7,97 млн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37744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УНИКАЛЬНЫХ ЧЕКОВ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0" y="868680"/>
            <a:ext cx="1828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89120" y="94183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7,37 млн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8912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ЧЕКОВ С ПОДУШКОЙ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0" y="868680"/>
            <a:ext cx="1828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94183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143 522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ЧЕКОВ С МАТРАСОМ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71600" y="2148840"/>
            <a:ext cx="1828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371600" y="22219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114 817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371600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СОВМЕСТНЫХ ПОКУПОК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83280" y="2148840"/>
            <a:ext cx="1828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83280" y="22219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228 115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383280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УДАЛЕНО НЕКАЧЕСТВ.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94960" y="2148840"/>
            <a:ext cx="1828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94960" y="22219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394960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БРЕНДОВ В РЕЕСТРЕ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429000"/>
            <a:ext cx="8412480" cy="1188720"/>
          </a:xfrm>
          <a:prstGeom prst="rect">
            <a:avLst/>
          </a:prstGeom>
          <a:solidFill>
            <a:srgbClr val="D4E6F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429000"/>
            <a:ext cx="64008" cy="11887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52044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7,97 млн чеков 114 817 (1,44%) содержали одновременно и матрас, и подушку. Каждый ~70-й покупатель подушки потенциально заинтересован в покупке матраса — это значительный потенциал для cross-sell стратегий.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Методология: фильтрация данных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/ Up-sell: Подушки и Матрасы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этапа превращения «сырых» данных в чистый датасет: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34440"/>
            <a:ext cx="594360" cy="9601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594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13075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Очистка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6184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Удаление строк с нулевой ценой, услуг доставки и ценовых аномалий (подушка за 32₽, матрас за 15₽)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83680" y="123444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−228 115 строк (1,12%)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77440"/>
            <a:ext cx="594360" cy="9601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377440"/>
            <a:ext cx="594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34440" y="24505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Дедупликация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7614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Удаление точных дубликатов: совпадение чека, даты, товара, цены и канала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237744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−5 689 строк (0,03%)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520440"/>
            <a:ext cx="594360" cy="9601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520440"/>
            <a:ext cx="594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34440" y="35935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 периода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9044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Оставлены только целевые годы 2024–2025. Все данные попали в диапазон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0" y="352044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строк потеряно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Ручная проверка 228 115 удалённых строк подтвердила: ни один полноценный товар не потерян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Честность: ограничения и «слепые зоны»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/ Up-sell: Подушки и Матрасы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ограничение — не скрыто, а превращено в управляемый параметр: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34440"/>
            <a:ext cx="1188720" cy="713232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6184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позиций без бренда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828800" y="1234440"/>
            <a:ext cx="6675120" cy="713232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Бренд «зашит» в тексте названия; извлечён для 43 из 49 токенов реестра. Рейтинги — среди идентифицированных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103120"/>
            <a:ext cx="1188720" cy="713232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103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2487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матрасов без размера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828800" y="2103120"/>
            <a:ext cx="6675120" cy="713232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все названия содержат размерную информацию. Общие рекомендации надёжны, размерные — на меньшей выборке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971800"/>
            <a:ext cx="1188720" cy="713232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9718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97,5%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33558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чеков = маркетплейс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828800" y="2971800"/>
            <a:ext cx="6675120" cy="713232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 для не-МП канала построены на 2,5% данных; доверительные интервалы шире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840480"/>
            <a:ext cx="1188720" cy="713232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840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чек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4224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одна транзакция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828800" y="3840480"/>
            <a:ext cx="6675120" cy="713232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не дают полной истории клиента. Cross-sell показатели — нижняя граница реального потенциала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solidFill>
            <a:srgbClr val="D4E6F1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5720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каждого сегмента указан уровень надёжности (confidence: high / medium / low) и доверительные интервалы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Обогащение данных: от текста к атрибутам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/ Up-sell: Подушки и Матрасы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текстового названия товара извлечены 4 структурированных атрибута: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19659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1965960" cy="4114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1887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Бренд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49 брендов → поиск токенов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Покрытие: 87,8%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606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Точность: &gt;98%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19659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14600" y="1188720"/>
            <a:ext cx="1965960" cy="4114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5" name="Text 13"/>
          <p:cNvSpPr/>
          <p:nvPr/>
        </p:nvSpPr>
        <p:spPr>
          <a:xfrm>
            <a:off x="2514600" y="11887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06040" y="16916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Regex: 50x70, 160x200 и т.д.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06040" y="2331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Покрытие: 30–60%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06040" y="2606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Точность: &gt;99%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188720"/>
            <a:ext cx="19659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188720"/>
            <a:ext cx="1965960" cy="4114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11887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наполнителя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16916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слова: memory, down...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2331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Покрытие: ~45%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2606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Точность: &gt;98%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12280" y="1188720"/>
            <a:ext cx="19659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12280" y="1188720"/>
            <a:ext cx="1965960" cy="4114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11887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Жёсткость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03720" y="16916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слова: firm, medium, soft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03720" y="2331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Покрытие: ~15%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03720" y="2606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Точность: &gt;95%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solidFill>
            <a:srgbClr val="D4E6F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обогащения: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3703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«Ортопедическая подушка Аскона Mediflex 50x70»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4023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нормализация  →  совпадение с «аскона»  →  бренд: Askona  |  размер: 50x70  |  тип: orthopedic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43891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На выборке 500 товаров ручная проверка показала точность &gt;98%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товарных категорий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/ Up-sell: Подушки и Матрасы</a:t>
            </a:r>
            <a:endParaRPr lang="en-US" sz="800" dirty="0"/>
          </a:p>
        </p:txBody>
      </p:sp>
      <p:pic>
        <p:nvPicPr>
          <p:cNvPr id="6" name="Image 0" descr="/home/claude/work/plots/plots/category_distribution_checks_top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502920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0" y="868680"/>
            <a:ext cx="33832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69280" y="960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категории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669280" y="137160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Подушка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92,5% всех чеков — основной товар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Матрас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1,8% чеков — редкий и дорогой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Одеяло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5,4% — ключевой cross-sell товар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Наволочка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4,9% — самый массовый допродаж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4297680"/>
            <a:ext cx="8595360" cy="457200"/>
          </a:xfrm>
          <a:prstGeom prst="rect">
            <a:avLst/>
          </a:prstGeom>
          <a:solidFill>
            <a:srgbClr val="D4E6F1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связка «подушка + матрас» особенно ценна: матрас — дорогой и редкий товар в выборке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Товарный микс: что покупают вместе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/ Up-sell: Подушки и Матрасы</a:t>
            </a:r>
            <a:endParaRPr lang="en-US" sz="800" dirty="0"/>
          </a:p>
        </p:txBody>
      </p:sp>
      <p:pic>
        <p:nvPicPr>
          <p:cNvPr id="6" name="Image 0" descr="/home/claude/work/plots/plots/pillow_category_mix_top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0"/>
            <a:ext cx="4297680" cy="292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" y="3703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Чеки с подушкой</a:t>
            </a:r>
            <a:endParaRPr lang="en-US" sz="1000" dirty="0"/>
          </a:p>
        </p:txBody>
      </p:sp>
      <p:pic>
        <p:nvPicPr>
          <p:cNvPr id="8" name="Image 1" descr="/home/claude/work/plots/plots/mattress_category_mix_top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731520"/>
            <a:ext cx="4297680" cy="2926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440" y="3703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Чеки с матрасом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74320" y="4114800"/>
            <a:ext cx="8595360" cy="640080"/>
          </a:xfrm>
          <a:prstGeom prst="rect">
            <a:avLst/>
          </a:prstGeom>
          <a:solidFill>
            <a:srgbClr val="D4E6F1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подушке чаще берут одеяло и наволочку. К матрасу — мебель, наматрасник, основание и кровать. Чем дороже матрас — тем «комплектнее» покупка.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Cross-sell: при покупке матраса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/ Up-sell: Подушки и Матрасы</a:t>
            </a:r>
            <a:endParaRPr lang="en-US" sz="800" dirty="0"/>
          </a:p>
        </p:txBody>
      </p:sp>
      <p:pic>
        <p:nvPicPr>
          <p:cNvPr id="6" name="Image 0" descr="/home/claude/work/plots/plots/reco_mattress_cross2_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0"/>
            <a:ext cx="4754880" cy="320040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822960"/>
          <a:ext cx="37490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1188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Сегмент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Топ-1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 20к 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Одеяло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20–30к 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Одеяло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30–50к 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Другая мебель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50–100к 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Основ./ламели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100к+ 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Кровать/каркас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120640" y="2834640"/>
            <a:ext cx="3749040" cy="1097280"/>
          </a:xfrm>
          <a:prstGeom prst="rect">
            <a:avLst/>
          </a:prstGeom>
          <a:solidFill>
            <a:srgbClr val="D4E6F1"/>
          </a:solidFill>
          <a:ln/>
        </p:spPr>
      </p:sp>
      <p:sp>
        <p:nvSpPr>
          <p:cNvPr id="9" name="Text 5"/>
          <p:cNvSpPr/>
          <p:nvPr/>
        </p:nvSpPr>
        <p:spPr>
          <a:xfrm>
            <a:off x="5257800" y="28803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дороже матрас — тем чаще «полный комплект» для спальни: каркас, основание, наматрасник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74320" y="4206240"/>
            <a:ext cx="8595360" cy="50292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rate для матрасов 30–50к с наматрасником достигает 49% — почти каждый второй чек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Cross-sell: при покупке подушки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/ Up-sell: Подушки и Матрасы</a:t>
            </a:r>
            <a:endParaRPr lang="en-US" sz="800" dirty="0"/>
          </a:p>
        </p:txBody>
      </p:sp>
      <p:pic>
        <p:nvPicPr>
          <p:cNvPr id="6" name="Image 0" descr="/home/claude/work/plots/plots/reco_pillow_cross2_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0"/>
            <a:ext cx="4754880" cy="320040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822960"/>
          <a:ext cx="37490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554480"/>
                <a:gridCol w="1188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Сегмент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Топ-1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 1к 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Наволочка/Одеяло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1–2к 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Одеяло/Косм.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3–5к 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Наволочка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5–10к 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Навол./Одеяло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10–20к 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Навол./Одеяло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120640" y="2834640"/>
            <a:ext cx="3749040" cy="1097280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9" name="Text 5"/>
          <p:cNvSpPr/>
          <p:nvPr/>
        </p:nvSpPr>
        <p:spPr>
          <a:xfrm>
            <a:off x="5257800" y="28803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Покупатели подушек от 10 000 ₽ покупают матрас в 5,2% чеков — крайне высоко для cross-category!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Up-sell: переход к дорогим товарам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/ Up-sell: Подушки и Матрасы</a:t>
            </a:r>
            <a:endParaRPr lang="en-US" sz="800" dirty="0"/>
          </a:p>
        </p:txBody>
      </p:sp>
      <p:pic>
        <p:nvPicPr>
          <p:cNvPr id="6" name="Image 0" descr="/home/claude/work/plots/plots/summary_cross_vs_ups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502920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868680"/>
            <a:ext cx="32918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15000" y="914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up-sell связки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715000" y="128016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Матрас 50к+ →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Каркас кровати (ср. чек 84к ₽)
Основание/ламели (ср. 42к ₽)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Подушка 10к+ →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Матрас в том же чеке
(ср. от 4к до 76к ₽)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Матрас 30–50к →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Другая мебель (ср. 36к ₽)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Сезонность: динамика по месяцам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/ Up-sell: Подушки и Матрасы</a:t>
            </a:r>
            <a:endParaRPr lang="en-US" sz="800" dirty="0"/>
          </a:p>
        </p:txBody>
      </p:sp>
      <p:pic>
        <p:nvPicPr>
          <p:cNvPr id="6" name="Image 0" descr="/home/claude/work/plots/plots/month_mattress_top1_atta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0"/>
            <a:ext cx="4297680" cy="2834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" y="361188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Матрасы</a:t>
            </a:r>
            <a:endParaRPr lang="en-US" sz="1000" dirty="0"/>
          </a:p>
        </p:txBody>
      </p:sp>
      <p:pic>
        <p:nvPicPr>
          <p:cNvPr id="8" name="Image 1" descr="/home/claude/work/plots/plots/month_pillow_top1_atta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731520"/>
            <a:ext cx="4297680" cy="2834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440" y="361188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Подушки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74320" y="3977640"/>
            <a:ext cx="8595360" cy="731520"/>
          </a:xfrm>
          <a:prstGeom prst="rect">
            <a:avLst/>
          </a:prstGeom>
          <a:solidFill>
            <a:srgbClr val="D4E6F1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Сезонные пики: август и декабрь — традиционно высокие месяцы для товаров для сна. Рекомендуется усиление промо-активности к этим периодам.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Сезонность: день недели и время суток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/ Up-sell: Подушки и Матрасы</a:t>
            </a:r>
            <a:endParaRPr lang="en-US" sz="800" dirty="0"/>
          </a:p>
        </p:txBody>
      </p:sp>
      <p:pic>
        <p:nvPicPr>
          <p:cNvPr id="6" name="Image 0" descr="/home/claude/work/plots/plots/weekday_mattress_top1_atta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731520"/>
            <a:ext cx="4297680" cy="2011680"/>
          </a:xfrm>
          <a:prstGeom prst="rect">
            <a:avLst/>
          </a:prstGeom>
        </p:spPr>
      </p:pic>
      <p:pic>
        <p:nvPicPr>
          <p:cNvPr id="7" name="Image 1" descr="/home/claude/work/plots/plots/weekday_pillow_top1_atta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731520"/>
            <a:ext cx="4297680" cy="2011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" y="27432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Дни недели: матрасы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709160" y="27432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Дни недели: подушки</a:t>
            </a:r>
            <a:endParaRPr lang="en-US" sz="900" dirty="0"/>
          </a:p>
        </p:txBody>
      </p:sp>
      <p:pic>
        <p:nvPicPr>
          <p:cNvPr id="10" name="Image 2" descr="/home/claude/work/plots/plots/hour_mattress_top1_atta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2971800"/>
            <a:ext cx="4297680" cy="1828800"/>
          </a:xfrm>
          <a:prstGeom prst="rect">
            <a:avLst/>
          </a:prstGeom>
        </p:spPr>
      </p:pic>
      <p:pic>
        <p:nvPicPr>
          <p:cNvPr id="11" name="Image 3" descr="/home/claude/work/plots/plots/hour_pillow_top1_atta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971800"/>
            <a:ext cx="429768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Бренды: связка «подушка → матрас»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/ Up-sell: Подушки и Матрасы</a:t>
            </a:r>
            <a:endParaRPr lang="en-US" sz="800" dirty="0"/>
          </a:p>
        </p:txBody>
      </p:sp>
      <p:pic>
        <p:nvPicPr>
          <p:cNvPr id="6" name="Image 0" descr="/home/claude/work/plots/plots/brand_attach_pillow_to_mattr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0"/>
            <a:ext cx="502920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94960" y="868680"/>
            <a:ext cx="34747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577840" y="914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Топ-бренды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577840" y="128016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Raiton — 53,9%
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второй покупатель подушки Raiton берёт и матрас
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Dimax — 38,3%
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по attach rate бренд
</a:t>
            </a: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Askona, IQ Sleep — 1-1,3%
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Крупные бренды: покупатели чаще берут подушки отдельно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Бренды: связка «матрас → одеяло»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/ Up-sell: Подушки и Матрасы</a:t>
            </a:r>
            <a:endParaRPr lang="en-US" sz="800" dirty="0"/>
          </a:p>
        </p:txBody>
      </p:sp>
      <p:pic>
        <p:nvPicPr>
          <p:cNvPr id="6" name="Image 0" descr="/home/claude/work/plots/plots/brand_attach_mattress_to_odeya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0"/>
            <a:ext cx="502920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94960" y="868680"/>
            <a:ext cx="34747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577840" y="914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Лидеры по бандлу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577840" y="128016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Ormatek Verda — 32,8%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третий покупатель матраса берёт одеяло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Askona Buyson — 27,2%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Askona Serta — 25,2%
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Askona — 21,7%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 для бандлов и промо-акций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Скрытые аффинитеты: неочевидные находки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/ Up-sell: Подушки и Матрасы</a:t>
            </a:r>
            <a:endParaRPr lang="en-US" sz="800" dirty="0"/>
          </a:p>
        </p:txBody>
      </p:sp>
      <p:pic>
        <p:nvPicPr>
          <p:cNvPr id="6" name="Image 0" descr="/home/claude/work/plots/plots/hook_hidden_affinities_top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0"/>
            <a:ext cx="530352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0" y="868680"/>
            <a:ext cx="32004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06440" y="914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 находки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806440" y="128016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Подушка 5–10к + Мебель
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Не-МП, суббота днём: 13,7%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Lift: 6x к базовому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Подушка 10–20к + Матрас
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Не-МП, суббота днём: 16,5%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Lift: 10,6x к базовому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Score
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13,8 млн — огромный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потенциал для промо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Рекомендации: Cross-sell стратегия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/ Up-sell: Подушки и Матрасы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68680"/>
            <a:ext cx="502920" cy="74980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686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86868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Матрас до 20к ₽ → рекомендовать одеяло и наволочку (cross-sell &gt;12%)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783080"/>
            <a:ext cx="502920" cy="74980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7830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178308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Матрас от 30к ₽ → бандлы с наматрасником и основанием (attach до 49%)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97480"/>
            <a:ext cx="502920" cy="74980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974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269748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Подушка от 10к ₽ → предлагать матрас (конверсия до 5,2%)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611880"/>
            <a:ext cx="502920" cy="74980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6118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" y="361188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Наволочка к подушке — самый массовый cross-sell с наибольшим охватом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Рекомендации: время и бренды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/ Up-sell: Подушки и Матрасы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68680"/>
            <a:ext cx="502920" cy="64008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686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Субботние покупатели (не-МП) — самая «щедрая» аудитория для cross-sell мебели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645920"/>
            <a:ext cx="502920" cy="64008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1645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Вечер (18–23ч) — повышенная склонность к допродажам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23160"/>
            <a:ext cx="502920" cy="64008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4231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2423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Сезонные пики: август и декабрь — усиление промо-активности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200400"/>
            <a:ext cx="502920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004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3200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Raiton, Dimax → бандлы «подушка + матрас» (attach 54% и 38%)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977640"/>
            <a:ext cx="502920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9776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3977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Askona, Ormatek → бандлы «матрас + одеяло» (attach 22–33%)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5720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Ожидаемое увеличение среднего чека: 5–15% в зависимости от сегмента и канала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 критериям оценки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/ Up-sell: Подушки и Матрасы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73152" cy="84124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85953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Прозрачность фильтрации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188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этапа с аудитом • пороги документированы • выборка удалённых строк • потеря чеков 0,003%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28800"/>
            <a:ext cx="73152" cy="84124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86537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Честность об ограничениях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194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ограничений с оценкой влияния • confidence level для каждого сегмента • CI для каждой метрики • стабильность 2024→2025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34640"/>
            <a:ext cx="73152" cy="84124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87121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Ясность обогащения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200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атрибута из текста • пример трансформации • покрытие и точность &gt;98% • unknown = отдельная категория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840480"/>
            <a:ext cx="73152" cy="8412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87705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Наглядность представления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42062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графиков • docx отчёт • Streamlit дашборд (9 страниц) • понятный язык без IT-жаргона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solidFill>
            <a:srgbClr val="D4E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5720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Повышающий балл: интерактивный Streamlit-дашборд с кастомным дизайном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73152" cy="1371600"/>
          </a:xfrm>
          <a:prstGeom prst="rect">
            <a:avLst/>
          </a:prstGeom>
          <a:solidFill>
            <a:srgbClr val="85C1E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554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2377440"/>
            <a:ext cx="2743200" cy="27432"/>
          </a:xfrm>
          <a:prstGeom prst="rect">
            <a:avLst/>
          </a:prstGeom>
          <a:solidFill>
            <a:srgbClr val="85C1E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60604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20,4 млн строк  →  7,97 млн чеков  →  47 файлов аналитики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графиков  •  405 рекомендаций  •  500 скрытых аффинитетов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«Маркетплейсы и платформенная экономика»  |  ФЭН НИУ ВШЭ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Cross-sell / Up-sell: Подушки и Матрасы</dc:title>
  <dc:subject>PptxGenJS Presentation</dc:subject>
  <dc:creator>Cross-sell Analytics</dc:creator>
  <cp:lastModifiedBy>Cross-sell Analytics</cp:lastModifiedBy>
  <cp:revision>1</cp:revision>
  <dcterms:created xsi:type="dcterms:W3CDTF">2026-03-10T05:30:25Z</dcterms:created>
  <dcterms:modified xsi:type="dcterms:W3CDTF">2026-03-10T05:30:25Z</dcterms:modified>
</cp:coreProperties>
</file>